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osta Rica" charset="1" panose="02000503000000000000"/>
      <p:regular r:id="rId20"/>
    </p:embeddedFont>
    <p:embeddedFont>
      <p:font typeface="TT Hoves" charset="1" panose="02000003020000060003"/>
      <p:regular r:id="rId21"/>
    </p:embeddedFont>
    <p:embeddedFont>
      <p:font typeface="Garet Bold" charset="1" panose="00000000000000000000"/>
      <p:regular r:id="rId22"/>
    </p:embeddedFont>
    <p:embeddedFont>
      <p:font typeface="Kufam Bold" charset="1" panose="00000000000000000000"/>
      <p:regular r:id="rId23"/>
    </p:embeddedFont>
    <p:embeddedFont>
      <p:font typeface="Garet"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150442" y="4962190"/>
            <a:ext cx="6521552" cy="6355549"/>
          </a:xfrm>
          <a:custGeom>
            <a:avLst/>
            <a:gdLst/>
            <a:ahLst/>
            <a:cxnLst/>
            <a:rect r="r" b="b" t="t" l="l"/>
            <a:pathLst>
              <a:path h="6355549" w="6521552">
                <a:moveTo>
                  <a:pt x="0" y="0"/>
                </a:moveTo>
                <a:lnTo>
                  <a:pt x="6521551" y="0"/>
                </a:lnTo>
                <a:lnTo>
                  <a:pt x="6521551" y="6355549"/>
                </a:lnTo>
                <a:lnTo>
                  <a:pt x="0" y="6355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916891" y="-1030739"/>
            <a:ext cx="6521552" cy="6355549"/>
          </a:xfrm>
          <a:custGeom>
            <a:avLst/>
            <a:gdLst/>
            <a:ahLst/>
            <a:cxnLst/>
            <a:rect r="r" b="b" t="t" l="l"/>
            <a:pathLst>
              <a:path h="6355549" w="6521552">
                <a:moveTo>
                  <a:pt x="6521551" y="6355549"/>
                </a:moveTo>
                <a:lnTo>
                  <a:pt x="0" y="6355549"/>
                </a:lnTo>
                <a:lnTo>
                  <a:pt x="0" y="0"/>
                </a:lnTo>
                <a:lnTo>
                  <a:pt x="6521551" y="0"/>
                </a:lnTo>
                <a:lnTo>
                  <a:pt x="6521551" y="635554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026344" y="2856121"/>
            <a:ext cx="12235312" cy="3184669"/>
          </a:xfrm>
          <a:prstGeom prst="rect">
            <a:avLst/>
          </a:prstGeom>
        </p:spPr>
        <p:txBody>
          <a:bodyPr anchor="t" rtlCol="false" tIns="0" lIns="0" bIns="0" rIns="0">
            <a:spAutoFit/>
          </a:bodyPr>
          <a:lstStyle/>
          <a:p>
            <a:pPr algn="ctr">
              <a:lnSpc>
                <a:spcPts val="7935"/>
              </a:lnSpc>
            </a:pPr>
            <a:r>
              <a:rPr lang="en-US" sz="9447">
                <a:solidFill>
                  <a:srgbClr val="FFFFFF"/>
                </a:solidFill>
                <a:latin typeface="Costa Rica"/>
                <a:ea typeface="Costa Rica"/>
                <a:cs typeface="Costa Rica"/>
                <a:sym typeface="Costa Rica"/>
              </a:rPr>
              <a:t>SMART UNIVERSITY IDENTITY RECOGNITION SYSTEM</a:t>
            </a:r>
          </a:p>
        </p:txBody>
      </p:sp>
      <p:sp>
        <p:nvSpPr>
          <p:cNvPr name="TextBox 5" id="5"/>
          <p:cNvSpPr txBox="true"/>
          <p:nvPr/>
        </p:nvSpPr>
        <p:spPr>
          <a:xfrm rot="0">
            <a:off x="5806874" y="7183535"/>
            <a:ext cx="6674251" cy="961620"/>
          </a:xfrm>
          <a:prstGeom prst="rect">
            <a:avLst/>
          </a:prstGeom>
        </p:spPr>
        <p:txBody>
          <a:bodyPr anchor="t" rtlCol="false" tIns="0" lIns="0" bIns="0" rIns="0">
            <a:spAutoFit/>
          </a:bodyPr>
          <a:lstStyle/>
          <a:p>
            <a:pPr algn="ctr">
              <a:lnSpc>
                <a:spcPts val="3737"/>
              </a:lnSpc>
            </a:pPr>
            <a:r>
              <a:rPr lang="en-US" sz="3737">
                <a:solidFill>
                  <a:srgbClr val="FFFFFF"/>
                </a:solidFill>
                <a:latin typeface="TT Hoves"/>
                <a:ea typeface="TT Hoves"/>
                <a:cs typeface="TT Hoves"/>
                <a:sym typeface="TT Hoves"/>
              </a:rPr>
              <a:t>Presented by MARYAM FAGBO</a:t>
            </a:r>
          </a:p>
        </p:txBody>
      </p:sp>
      <p:sp>
        <p:nvSpPr>
          <p:cNvPr name="Freeform 6" id="6"/>
          <p:cNvSpPr/>
          <p:nvPr/>
        </p:nvSpPr>
        <p:spPr>
          <a:xfrm flipH="false" flipV="false" rot="0">
            <a:off x="631841" y="567265"/>
            <a:ext cx="1574026" cy="1579771"/>
          </a:xfrm>
          <a:custGeom>
            <a:avLst/>
            <a:gdLst/>
            <a:ahLst/>
            <a:cxnLst/>
            <a:rect r="r" b="b" t="t" l="l"/>
            <a:pathLst>
              <a:path h="1579771" w="1574026">
                <a:moveTo>
                  <a:pt x="0" y="0"/>
                </a:moveTo>
                <a:lnTo>
                  <a:pt x="1574026" y="0"/>
                </a:lnTo>
                <a:lnTo>
                  <a:pt x="1574026" y="1579771"/>
                </a:lnTo>
                <a:lnTo>
                  <a:pt x="0" y="1579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082133" y="8139964"/>
            <a:ext cx="1574026" cy="1579771"/>
          </a:xfrm>
          <a:custGeom>
            <a:avLst/>
            <a:gdLst/>
            <a:ahLst/>
            <a:cxnLst/>
            <a:rect r="r" b="b" t="t" l="l"/>
            <a:pathLst>
              <a:path h="1579771" w="1574026">
                <a:moveTo>
                  <a:pt x="0" y="0"/>
                </a:moveTo>
                <a:lnTo>
                  <a:pt x="1574026" y="0"/>
                </a:lnTo>
                <a:lnTo>
                  <a:pt x="1574026" y="1579771"/>
                </a:lnTo>
                <a:lnTo>
                  <a:pt x="0" y="1579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841850"/>
            <a:ext cx="10364255" cy="5083916"/>
          </a:xfrm>
          <a:prstGeom prst="rect">
            <a:avLst/>
          </a:prstGeom>
        </p:spPr>
        <p:txBody>
          <a:bodyPr anchor="t" rtlCol="false" tIns="0" lIns="0" bIns="0" rIns="0">
            <a:spAutoFit/>
          </a:bodyPr>
          <a:lstStyle/>
          <a:p>
            <a:pPr algn="l">
              <a:lnSpc>
                <a:spcPts val="4012"/>
              </a:lnSpc>
            </a:pPr>
            <a:r>
              <a:rPr lang="en-US" sz="4012" b="true">
                <a:solidFill>
                  <a:srgbClr val="FFFFFF"/>
                </a:solidFill>
                <a:latin typeface="Garet Bold"/>
                <a:ea typeface="Garet Bold"/>
                <a:cs typeface="Garet Bold"/>
                <a:sym typeface="Garet Bold"/>
              </a:rPr>
              <a:t> I am introducing an  innovative implementation of Smart University Identity Recognition System utilizing the power of Computer vision and Machine learning. The system is capable of automatically recognizing the university members using their facial images. It shows how the university identity verification can be implemented by using AI techniques.</a:t>
            </a:r>
          </a:p>
        </p:txBody>
      </p:sp>
      <p:sp>
        <p:nvSpPr>
          <p:cNvPr name="AutoShape 5" id="5"/>
          <p:cNvSpPr/>
          <p:nvPr/>
        </p:nvSpPr>
        <p:spPr>
          <a:xfrm>
            <a:off x="5454458" y="9239940"/>
            <a:ext cx="11827380" cy="0"/>
          </a:xfrm>
          <a:prstGeom prst="line">
            <a:avLst/>
          </a:prstGeom>
          <a:ln cap="flat" w="19050">
            <a:solidFill>
              <a:srgbClr val="074F88"/>
            </a:solidFill>
            <a:prstDash val="solid"/>
            <a:headEnd type="none" len="sm" w="sm"/>
            <a:tailEnd type="none" len="sm" w="sm"/>
          </a:ln>
        </p:spPr>
      </p:sp>
      <p:sp>
        <p:nvSpPr>
          <p:cNvPr name="Freeform 6" id="6"/>
          <p:cNvSpPr/>
          <p:nvPr/>
        </p:nvSpPr>
        <p:spPr>
          <a:xfrm flipH="false" flipV="false" rot="0">
            <a:off x="11428727" y="517089"/>
            <a:ext cx="2368161" cy="1965573"/>
          </a:xfrm>
          <a:custGeom>
            <a:avLst/>
            <a:gdLst/>
            <a:ahLst/>
            <a:cxnLst/>
            <a:rect r="r" b="b" t="t" l="l"/>
            <a:pathLst>
              <a:path h="1965573" w="2368161">
                <a:moveTo>
                  <a:pt x="0" y="0"/>
                </a:moveTo>
                <a:lnTo>
                  <a:pt x="2368160" y="0"/>
                </a:lnTo>
                <a:lnTo>
                  <a:pt x="2368160" y="1965574"/>
                </a:lnTo>
                <a:lnTo>
                  <a:pt x="0" y="19655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045991" y="4677091"/>
            <a:ext cx="5403988" cy="3242393"/>
          </a:xfrm>
          <a:custGeom>
            <a:avLst/>
            <a:gdLst/>
            <a:ahLst/>
            <a:cxnLst/>
            <a:rect r="r" b="b" t="t" l="l"/>
            <a:pathLst>
              <a:path h="3242393" w="5403988">
                <a:moveTo>
                  <a:pt x="0" y="0"/>
                </a:moveTo>
                <a:lnTo>
                  <a:pt x="5403989" y="0"/>
                </a:lnTo>
                <a:lnTo>
                  <a:pt x="5403989" y="3242393"/>
                </a:lnTo>
                <a:lnTo>
                  <a:pt x="0" y="32423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28700" y="859989"/>
            <a:ext cx="9448928" cy="1617709"/>
          </a:xfrm>
          <a:prstGeom prst="rect">
            <a:avLst/>
          </a:prstGeom>
        </p:spPr>
        <p:txBody>
          <a:bodyPr anchor="t" rtlCol="false" tIns="0" lIns="0" bIns="0" rIns="0">
            <a:spAutoFit/>
          </a:bodyPr>
          <a:lstStyle/>
          <a:p>
            <a:pPr algn="ctr">
              <a:lnSpc>
                <a:spcPts val="10821"/>
              </a:lnSpc>
            </a:pPr>
            <a:r>
              <a:rPr lang="en-US" sz="12882">
                <a:solidFill>
                  <a:srgbClr val="FFFFFF"/>
                </a:solidFill>
                <a:latin typeface="Costa Rica"/>
                <a:ea typeface="Costa Rica"/>
                <a:cs typeface="Costa Rica"/>
                <a:sym typeface="Costa Rica"/>
              </a:rPr>
              <a:t>INTRODU</a:t>
            </a:r>
            <a:r>
              <a:rPr lang="en-US" sz="12882">
                <a:solidFill>
                  <a:srgbClr val="FFFFFF"/>
                </a:solidFill>
                <a:latin typeface="Costa Rica"/>
                <a:ea typeface="Costa Rica"/>
                <a:cs typeface="Costa Rica"/>
                <a:sym typeface="Costa Rica"/>
              </a:rPr>
              <a:t>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a:off x="5454458" y="9239940"/>
            <a:ext cx="11827380" cy="0"/>
          </a:xfrm>
          <a:prstGeom prst="line">
            <a:avLst/>
          </a:prstGeom>
          <a:ln cap="flat" w="19050">
            <a:solidFill>
              <a:srgbClr val="074F88"/>
            </a:solidFill>
            <a:prstDash val="solid"/>
            <a:headEnd type="none" len="sm" w="sm"/>
            <a:tailEnd type="none" len="sm" w="sm"/>
          </a:ln>
        </p:spPr>
      </p:sp>
      <p:sp>
        <p:nvSpPr>
          <p:cNvPr name="Freeform 5" id="5"/>
          <p:cNvSpPr/>
          <p:nvPr/>
        </p:nvSpPr>
        <p:spPr>
          <a:xfrm flipH="false" flipV="false" rot="0">
            <a:off x="12214416" y="3988713"/>
            <a:ext cx="3658431" cy="4114800"/>
          </a:xfrm>
          <a:custGeom>
            <a:avLst/>
            <a:gdLst/>
            <a:ahLst/>
            <a:cxnLst/>
            <a:rect r="r" b="b" t="t" l="l"/>
            <a:pathLst>
              <a:path h="4114800" w="3658431">
                <a:moveTo>
                  <a:pt x="0" y="0"/>
                </a:moveTo>
                <a:lnTo>
                  <a:pt x="3658431" y="0"/>
                </a:lnTo>
                <a:lnTo>
                  <a:pt x="365843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543918" y="3745024"/>
            <a:ext cx="10467641" cy="3993908"/>
          </a:xfrm>
          <a:prstGeom prst="rect">
            <a:avLst/>
          </a:prstGeom>
        </p:spPr>
        <p:txBody>
          <a:bodyPr anchor="t" rtlCol="false" tIns="0" lIns="0" bIns="0" rIns="0">
            <a:spAutoFit/>
          </a:bodyPr>
          <a:lstStyle/>
          <a:p>
            <a:pPr algn="l">
              <a:lnSpc>
                <a:spcPts val="3966"/>
              </a:lnSpc>
            </a:pPr>
            <a:r>
              <a:rPr lang="en-US" sz="3966" b="true">
                <a:solidFill>
                  <a:srgbClr val="FFFFFF"/>
                </a:solidFill>
                <a:latin typeface="Garet Bold"/>
                <a:ea typeface="Garet Bold"/>
                <a:cs typeface="Garet Bold"/>
                <a:sym typeface="Garet Bold"/>
              </a:rPr>
              <a:t>Several institutions like our University still use manual identification procedures like checking ID cards or matching faces visually. Such procedures are often slow, ineffective, and susceptible to mistakes, but may need to be replaced by systems that can minimize the problem.</a:t>
            </a:r>
          </a:p>
        </p:txBody>
      </p:sp>
      <p:sp>
        <p:nvSpPr>
          <p:cNvPr name="TextBox 7" id="7"/>
          <p:cNvSpPr txBox="true"/>
          <p:nvPr/>
        </p:nvSpPr>
        <p:spPr>
          <a:xfrm rot="0">
            <a:off x="2981268" y="1371600"/>
            <a:ext cx="11766718" cy="1617709"/>
          </a:xfrm>
          <a:prstGeom prst="rect">
            <a:avLst/>
          </a:prstGeom>
        </p:spPr>
        <p:txBody>
          <a:bodyPr anchor="t" rtlCol="false" tIns="0" lIns="0" bIns="0" rIns="0">
            <a:spAutoFit/>
          </a:bodyPr>
          <a:lstStyle/>
          <a:p>
            <a:pPr algn="ctr">
              <a:lnSpc>
                <a:spcPts val="10821"/>
              </a:lnSpc>
            </a:pPr>
            <a:r>
              <a:rPr lang="en-US" sz="12882">
                <a:solidFill>
                  <a:srgbClr val="FFFFFF"/>
                </a:solidFill>
                <a:latin typeface="Costa Rica"/>
                <a:ea typeface="Costa Rica"/>
                <a:cs typeface="Costa Rica"/>
                <a:sym typeface="Costa Rica"/>
              </a:rPr>
              <a:t>MOTIVATION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932950" y="4064913"/>
            <a:ext cx="9296504" cy="4298751"/>
          </a:xfrm>
          <a:prstGeom prst="rect">
            <a:avLst/>
          </a:prstGeom>
        </p:spPr>
        <p:txBody>
          <a:bodyPr anchor="t" rtlCol="false" tIns="0" lIns="0" bIns="0" rIns="0">
            <a:spAutoFit/>
          </a:bodyPr>
          <a:lstStyle/>
          <a:p>
            <a:pPr algn="l">
              <a:lnSpc>
                <a:spcPts val="4228"/>
              </a:lnSpc>
            </a:pPr>
            <a:r>
              <a:rPr lang="en-US" sz="4228" b="true">
                <a:solidFill>
                  <a:srgbClr val="FFFFFF"/>
                </a:solidFill>
                <a:latin typeface="Kufam Bold"/>
                <a:ea typeface="Kufam Bold"/>
                <a:cs typeface="Kufam Bold"/>
                <a:sym typeface="Kufam Bold"/>
              </a:rPr>
              <a:t> The critical problem is that there is no robust automatic system for identity recognition in campus environments. Every manual system adds to the workload of lecturers and provides at hand opportunities for impersonation.</a:t>
            </a:r>
          </a:p>
        </p:txBody>
      </p:sp>
      <p:sp>
        <p:nvSpPr>
          <p:cNvPr name="AutoShape 5" id="5"/>
          <p:cNvSpPr/>
          <p:nvPr/>
        </p:nvSpPr>
        <p:spPr>
          <a:xfrm>
            <a:off x="5454458" y="9239940"/>
            <a:ext cx="11827380" cy="0"/>
          </a:xfrm>
          <a:prstGeom prst="line">
            <a:avLst/>
          </a:prstGeom>
          <a:ln cap="flat" w="19050">
            <a:solidFill>
              <a:srgbClr val="074F88"/>
            </a:solidFill>
            <a:prstDash val="solid"/>
            <a:headEnd type="none" len="sm" w="sm"/>
            <a:tailEnd type="none" len="sm" w="sm"/>
          </a:ln>
        </p:spPr>
      </p:sp>
      <p:sp>
        <p:nvSpPr>
          <p:cNvPr name="Freeform 6" id="6"/>
          <p:cNvSpPr/>
          <p:nvPr/>
        </p:nvSpPr>
        <p:spPr>
          <a:xfrm flipH="false" flipV="false" rot="0">
            <a:off x="12626872" y="3805641"/>
            <a:ext cx="3596335" cy="4114800"/>
          </a:xfrm>
          <a:custGeom>
            <a:avLst/>
            <a:gdLst/>
            <a:ahLst/>
            <a:cxnLst/>
            <a:rect r="r" b="b" t="t" l="l"/>
            <a:pathLst>
              <a:path h="4114800" w="3596335">
                <a:moveTo>
                  <a:pt x="0" y="0"/>
                </a:moveTo>
                <a:lnTo>
                  <a:pt x="3596335" y="0"/>
                </a:lnTo>
                <a:lnTo>
                  <a:pt x="359633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326071" y="834947"/>
            <a:ext cx="9198715" cy="2970694"/>
          </a:xfrm>
          <a:prstGeom prst="rect">
            <a:avLst/>
          </a:prstGeom>
        </p:spPr>
        <p:txBody>
          <a:bodyPr anchor="t" rtlCol="false" tIns="0" lIns="0" bIns="0" rIns="0">
            <a:spAutoFit/>
          </a:bodyPr>
          <a:lstStyle/>
          <a:p>
            <a:pPr algn="ctr">
              <a:lnSpc>
                <a:spcPts val="10761"/>
              </a:lnSpc>
            </a:pPr>
            <a:r>
              <a:rPr lang="en-US" sz="12810">
                <a:solidFill>
                  <a:srgbClr val="FFFFFF"/>
                </a:solidFill>
                <a:latin typeface="Costa Rica"/>
                <a:ea typeface="Costa Rica"/>
                <a:cs typeface="Costa Rica"/>
                <a:sym typeface="Costa Rica"/>
              </a:rPr>
              <a:t> PROBLEM STATEMENT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831508" y="3900996"/>
            <a:ext cx="12916478" cy="3756827"/>
          </a:xfrm>
          <a:prstGeom prst="rect">
            <a:avLst/>
          </a:prstGeom>
        </p:spPr>
        <p:txBody>
          <a:bodyPr anchor="t" rtlCol="false" tIns="0" lIns="0" bIns="0" rIns="0">
            <a:spAutoFit/>
          </a:bodyPr>
          <a:lstStyle/>
          <a:p>
            <a:pPr algn="l">
              <a:lnSpc>
                <a:spcPts val="4269"/>
              </a:lnSpc>
            </a:pPr>
            <a:r>
              <a:rPr lang="en-US" sz="4269" b="true">
                <a:solidFill>
                  <a:srgbClr val="FFFFFF"/>
                </a:solidFill>
                <a:latin typeface="Kufam Bold"/>
                <a:ea typeface="Kufam Bold"/>
                <a:cs typeface="Kufam Bold"/>
                <a:sym typeface="Kufam Bold"/>
              </a:rPr>
              <a:t>The goal is to develop and test a system that is capable of identifying people from images of their faces. The system is required to work as accurately as possible, but also to be as fast as possible. Also the task is to see how feasible it is to implement an identification system like this in university environments.</a:t>
            </a:r>
          </a:p>
        </p:txBody>
      </p:sp>
      <p:sp>
        <p:nvSpPr>
          <p:cNvPr name="TextBox 5" id="5"/>
          <p:cNvSpPr txBox="true"/>
          <p:nvPr/>
        </p:nvSpPr>
        <p:spPr>
          <a:xfrm rot="0">
            <a:off x="4326071" y="834947"/>
            <a:ext cx="9198715" cy="1606754"/>
          </a:xfrm>
          <a:prstGeom prst="rect">
            <a:avLst/>
          </a:prstGeom>
        </p:spPr>
        <p:txBody>
          <a:bodyPr anchor="t" rtlCol="false" tIns="0" lIns="0" bIns="0" rIns="0">
            <a:spAutoFit/>
          </a:bodyPr>
          <a:lstStyle/>
          <a:p>
            <a:pPr algn="ctr">
              <a:lnSpc>
                <a:spcPts val="10761"/>
              </a:lnSpc>
            </a:pPr>
            <a:r>
              <a:rPr lang="en-US" sz="12810">
                <a:solidFill>
                  <a:srgbClr val="FFFFFF"/>
                </a:solidFill>
                <a:latin typeface="Costa Rica"/>
                <a:ea typeface="Costa Rica"/>
                <a:cs typeface="Costa Rica"/>
                <a:sym typeface="Costa Rica"/>
              </a:rPr>
              <a:t>OBJECTIVE</a:t>
            </a:r>
          </a:p>
        </p:txBody>
      </p:sp>
      <p:sp>
        <p:nvSpPr>
          <p:cNvPr name="AutoShape 6" id="6"/>
          <p:cNvSpPr/>
          <p:nvPr/>
        </p:nvSpPr>
        <p:spPr>
          <a:xfrm>
            <a:off x="5454458" y="9239940"/>
            <a:ext cx="11827380" cy="0"/>
          </a:xfrm>
          <a:prstGeom prst="line">
            <a:avLst/>
          </a:prstGeom>
          <a:ln cap="flat" w="19050">
            <a:solidFill>
              <a:srgbClr val="074F88"/>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43607" y="1114536"/>
            <a:ext cx="2029967" cy="1631356"/>
          </a:xfrm>
          <a:custGeom>
            <a:avLst/>
            <a:gdLst/>
            <a:ahLst/>
            <a:cxnLst/>
            <a:rect r="r" b="b" t="t" l="l"/>
            <a:pathLst>
              <a:path h="1631356" w="2029967">
                <a:moveTo>
                  <a:pt x="0" y="0"/>
                </a:moveTo>
                <a:lnTo>
                  <a:pt x="2029968" y="0"/>
                </a:lnTo>
                <a:lnTo>
                  <a:pt x="2029968" y="1631355"/>
                </a:lnTo>
                <a:lnTo>
                  <a:pt x="0" y="16313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5454458" y="9239940"/>
            <a:ext cx="11827380" cy="0"/>
          </a:xfrm>
          <a:prstGeom prst="line">
            <a:avLst/>
          </a:prstGeom>
          <a:ln cap="flat" w="19050">
            <a:solidFill>
              <a:srgbClr val="074F88"/>
            </a:solidFill>
            <a:prstDash val="solid"/>
            <a:headEnd type="none" len="sm" w="sm"/>
            <a:tailEnd type="none" len="sm" w="sm"/>
          </a:ln>
        </p:spPr>
      </p:sp>
      <p:sp>
        <p:nvSpPr>
          <p:cNvPr name="Freeform 6" id="6"/>
          <p:cNvSpPr/>
          <p:nvPr/>
        </p:nvSpPr>
        <p:spPr>
          <a:xfrm flipH="false" flipV="false" rot="0">
            <a:off x="10173789" y="2988175"/>
            <a:ext cx="7328937" cy="5999956"/>
          </a:xfrm>
          <a:custGeom>
            <a:avLst/>
            <a:gdLst/>
            <a:ahLst/>
            <a:cxnLst/>
            <a:rect r="r" b="b" t="t" l="l"/>
            <a:pathLst>
              <a:path h="5999956" w="7328937">
                <a:moveTo>
                  <a:pt x="0" y="0"/>
                </a:moveTo>
                <a:lnTo>
                  <a:pt x="7328937" y="0"/>
                </a:lnTo>
                <a:lnTo>
                  <a:pt x="7328937" y="5999956"/>
                </a:lnTo>
                <a:lnTo>
                  <a:pt x="0" y="5999956"/>
                </a:lnTo>
                <a:lnTo>
                  <a:pt x="0" y="0"/>
                </a:lnTo>
                <a:close/>
              </a:path>
            </a:pathLst>
          </a:custGeom>
          <a:blipFill>
            <a:blip r:embed="rId6"/>
            <a:stretch>
              <a:fillRect l="0" t="0" r="0" b="0"/>
            </a:stretch>
          </a:blipFill>
        </p:spPr>
      </p:sp>
      <p:sp>
        <p:nvSpPr>
          <p:cNvPr name="TextBox 7" id="7"/>
          <p:cNvSpPr txBox="true"/>
          <p:nvPr/>
        </p:nvSpPr>
        <p:spPr>
          <a:xfrm rot="0">
            <a:off x="2929825" y="1128182"/>
            <a:ext cx="7013782" cy="1617709"/>
          </a:xfrm>
          <a:prstGeom prst="rect">
            <a:avLst/>
          </a:prstGeom>
        </p:spPr>
        <p:txBody>
          <a:bodyPr anchor="t" rtlCol="false" tIns="0" lIns="0" bIns="0" rIns="0">
            <a:spAutoFit/>
          </a:bodyPr>
          <a:lstStyle/>
          <a:p>
            <a:pPr algn="ctr">
              <a:lnSpc>
                <a:spcPts val="10821"/>
              </a:lnSpc>
            </a:pPr>
            <a:r>
              <a:rPr lang="en-US" sz="12882">
                <a:solidFill>
                  <a:srgbClr val="FFFFFF"/>
                </a:solidFill>
                <a:latin typeface="Costa Rica"/>
                <a:ea typeface="Costa Rica"/>
                <a:cs typeface="Costa Rica"/>
                <a:sym typeface="Costa Rica"/>
              </a:rPr>
              <a:t>DATASET</a:t>
            </a:r>
          </a:p>
        </p:txBody>
      </p:sp>
      <p:sp>
        <p:nvSpPr>
          <p:cNvPr name="TextBox 8" id="8"/>
          <p:cNvSpPr txBox="true"/>
          <p:nvPr/>
        </p:nvSpPr>
        <p:spPr>
          <a:xfrm rot="0">
            <a:off x="1436494" y="2777692"/>
            <a:ext cx="7299291" cy="6613644"/>
          </a:xfrm>
          <a:prstGeom prst="rect">
            <a:avLst/>
          </a:prstGeom>
        </p:spPr>
        <p:txBody>
          <a:bodyPr anchor="t" rtlCol="false" tIns="0" lIns="0" bIns="0" rIns="0">
            <a:spAutoFit/>
          </a:bodyPr>
          <a:lstStyle/>
          <a:p>
            <a:pPr algn="l">
              <a:lnSpc>
                <a:spcPts val="4339"/>
              </a:lnSpc>
            </a:pPr>
            <a:r>
              <a:rPr lang="en-US" sz="4339" b="true">
                <a:solidFill>
                  <a:srgbClr val="FFFFFF"/>
                </a:solidFill>
                <a:latin typeface="Garet Bold"/>
                <a:ea typeface="Garet Bold"/>
                <a:cs typeface="Garet Bold"/>
                <a:sym typeface="Garet Bold"/>
              </a:rPr>
              <a:t>This  Labeled Faces in the Wild dataset, is one of the most common face recognition datasets. It contains images of many people, with different lighting, poses, and expressions. A filtered set of 7 identities was used to create a stable and balanced training set.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589915" y="2014804"/>
            <a:ext cx="8458995" cy="926869"/>
          </a:xfrm>
          <a:prstGeom prst="rect">
            <a:avLst/>
          </a:prstGeom>
        </p:spPr>
        <p:txBody>
          <a:bodyPr anchor="t" rtlCol="false" tIns="0" lIns="0" bIns="0" rIns="0">
            <a:spAutoFit/>
          </a:bodyPr>
          <a:lstStyle/>
          <a:p>
            <a:pPr algn="ctr">
              <a:lnSpc>
                <a:spcPts val="6114"/>
              </a:lnSpc>
            </a:pPr>
            <a:r>
              <a:rPr lang="en-US" sz="7279">
                <a:solidFill>
                  <a:srgbClr val="FFFFFF"/>
                </a:solidFill>
                <a:latin typeface="Costa Rica"/>
                <a:ea typeface="Costa Rica"/>
                <a:cs typeface="Costa Rica"/>
                <a:sym typeface="Costa Rica"/>
              </a:rPr>
              <a:t>FEATURE EXTRACTION</a:t>
            </a:r>
          </a:p>
        </p:txBody>
      </p:sp>
      <p:sp>
        <p:nvSpPr>
          <p:cNvPr name="TextBox 5" id="5"/>
          <p:cNvSpPr txBox="true"/>
          <p:nvPr/>
        </p:nvSpPr>
        <p:spPr>
          <a:xfrm rot="0">
            <a:off x="983624" y="4824931"/>
            <a:ext cx="7606291" cy="3529256"/>
          </a:xfrm>
          <a:prstGeom prst="rect">
            <a:avLst/>
          </a:prstGeom>
        </p:spPr>
        <p:txBody>
          <a:bodyPr anchor="t" rtlCol="false" tIns="0" lIns="0" bIns="0" rIns="0">
            <a:spAutoFit/>
          </a:bodyPr>
          <a:lstStyle/>
          <a:p>
            <a:pPr algn="l">
              <a:lnSpc>
                <a:spcPts val="4010"/>
              </a:lnSpc>
            </a:pPr>
            <a:r>
              <a:rPr lang="en-US" sz="4010">
                <a:solidFill>
                  <a:srgbClr val="FFFFFF"/>
                </a:solidFill>
                <a:latin typeface="Garet"/>
                <a:ea typeface="Garet"/>
                <a:cs typeface="Garet"/>
                <a:sym typeface="Garet"/>
              </a:rPr>
              <a:t>The System is developed following the pipeline of data loading and pre-preprocessing, feature extraction, model training &amp; model assessment.</a:t>
            </a:r>
          </a:p>
          <a:p>
            <a:pPr algn="l">
              <a:lnSpc>
                <a:spcPts val="4010"/>
              </a:lnSpc>
            </a:pPr>
          </a:p>
        </p:txBody>
      </p:sp>
      <p:sp>
        <p:nvSpPr>
          <p:cNvPr name="TextBox 6" id="6"/>
          <p:cNvSpPr txBox="true"/>
          <p:nvPr/>
        </p:nvSpPr>
        <p:spPr>
          <a:xfrm rot="0">
            <a:off x="8838685" y="4815406"/>
            <a:ext cx="8420615" cy="3201000"/>
          </a:xfrm>
          <a:prstGeom prst="rect">
            <a:avLst/>
          </a:prstGeom>
        </p:spPr>
        <p:txBody>
          <a:bodyPr anchor="t" rtlCol="false" tIns="0" lIns="0" bIns="0" rIns="0">
            <a:spAutoFit/>
          </a:bodyPr>
          <a:lstStyle/>
          <a:p>
            <a:pPr algn="l">
              <a:lnSpc>
                <a:spcPts val="3633"/>
              </a:lnSpc>
            </a:pPr>
            <a:r>
              <a:rPr lang="en-US" sz="3633">
                <a:solidFill>
                  <a:srgbClr val="FFFFFF"/>
                </a:solidFill>
                <a:latin typeface="Garet"/>
                <a:ea typeface="Garet"/>
                <a:cs typeface="Garet"/>
                <a:sym typeface="Garet"/>
              </a:rPr>
              <a:t>PCA was applied to extract the most significant facial features and reduce dimensionality. It is a technique to dimension the image set (images are turned into a eigen-face). PCA can simplify the data set and take out the noise.</a:t>
            </a:r>
          </a:p>
        </p:txBody>
      </p:sp>
      <p:sp>
        <p:nvSpPr>
          <p:cNvPr name="AutoShape 7" id="7"/>
          <p:cNvSpPr/>
          <p:nvPr/>
        </p:nvSpPr>
        <p:spPr>
          <a:xfrm>
            <a:off x="5454458" y="9239940"/>
            <a:ext cx="11827380" cy="0"/>
          </a:xfrm>
          <a:prstGeom prst="line">
            <a:avLst/>
          </a:prstGeom>
          <a:ln cap="flat" w="19050">
            <a:solidFill>
              <a:srgbClr val="074F88"/>
            </a:solidFill>
            <a:prstDash val="solid"/>
            <a:headEnd type="none" len="sm" w="sm"/>
            <a:tailEnd type="none" len="sm" w="sm"/>
          </a:ln>
        </p:spPr>
      </p:sp>
      <p:sp>
        <p:nvSpPr>
          <p:cNvPr name="TextBox 8" id="8"/>
          <p:cNvSpPr txBox="true"/>
          <p:nvPr/>
        </p:nvSpPr>
        <p:spPr>
          <a:xfrm rot="0">
            <a:off x="983624" y="2052904"/>
            <a:ext cx="7284786" cy="994740"/>
          </a:xfrm>
          <a:prstGeom prst="rect">
            <a:avLst/>
          </a:prstGeom>
        </p:spPr>
        <p:txBody>
          <a:bodyPr anchor="t" rtlCol="false" tIns="0" lIns="0" bIns="0" rIns="0">
            <a:spAutoFit/>
          </a:bodyPr>
          <a:lstStyle/>
          <a:p>
            <a:pPr algn="ctr">
              <a:lnSpc>
                <a:spcPts val="6699"/>
              </a:lnSpc>
            </a:pPr>
            <a:r>
              <a:rPr lang="en-US" sz="7975">
                <a:solidFill>
                  <a:srgbClr val="FFFFFF"/>
                </a:solidFill>
                <a:latin typeface="Costa Rica"/>
                <a:ea typeface="Costa Rica"/>
                <a:cs typeface="Costa Rica"/>
                <a:sym typeface="Costa Rica"/>
              </a:rPr>
              <a:t>SYSTEM PIPELINE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675916" y="1168394"/>
            <a:ext cx="1893117" cy="1194384"/>
          </a:xfrm>
          <a:custGeom>
            <a:avLst/>
            <a:gdLst/>
            <a:ahLst/>
            <a:cxnLst/>
            <a:rect r="r" b="b" t="t" l="l"/>
            <a:pathLst>
              <a:path h="1194384" w="1893117">
                <a:moveTo>
                  <a:pt x="0" y="0"/>
                </a:moveTo>
                <a:lnTo>
                  <a:pt x="1893117" y="0"/>
                </a:lnTo>
                <a:lnTo>
                  <a:pt x="1893117" y="1194385"/>
                </a:lnTo>
                <a:lnTo>
                  <a:pt x="0" y="1194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821776" y="3344466"/>
            <a:ext cx="11135889" cy="3771587"/>
          </a:xfrm>
          <a:prstGeom prst="rect">
            <a:avLst/>
          </a:prstGeom>
        </p:spPr>
        <p:txBody>
          <a:bodyPr anchor="t" rtlCol="false" tIns="0" lIns="0" bIns="0" rIns="0">
            <a:spAutoFit/>
          </a:bodyPr>
          <a:lstStyle/>
          <a:p>
            <a:pPr algn="l">
              <a:lnSpc>
                <a:spcPts val="4266"/>
              </a:lnSpc>
            </a:pPr>
            <a:r>
              <a:rPr lang="en-US" sz="4266" b="true">
                <a:solidFill>
                  <a:srgbClr val="FFFFFF"/>
                </a:solidFill>
                <a:latin typeface="Garet Bold"/>
                <a:ea typeface="Garet Bold"/>
                <a:cs typeface="Garet Bold"/>
                <a:sym typeface="Garet Bold"/>
              </a:rPr>
              <a:t>This project is an apples-to-apples comparison between classical and deep learning. Classical machine learning models like KNN and SVM are compared with deep learning on the CNN. It allows performance comparisons of all the techniques.</a:t>
            </a:r>
          </a:p>
        </p:txBody>
      </p:sp>
      <p:sp>
        <p:nvSpPr>
          <p:cNvPr name="AutoShape 6" id="6"/>
          <p:cNvSpPr/>
          <p:nvPr/>
        </p:nvSpPr>
        <p:spPr>
          <a:xfrm>
            <a:off x="5454458" y="9239940"/>
            <a:ext cx="11827380" cy="0"/>
          </a:xfrm>
          <a:prstGeom prst="line">
            <a:avLst/>
          </a:prstGeom>
          <a:ln cap="flat" w="19050">
            <a:solidFill>
              <a:srgbClr val="074F88"/>
            </a:solidFill>
            <a:prstDash val="solid"/>
            <a:headEnd type="none" len="sm" w="sm"/>
            <a:tailEnd type="none" len="sm" w="sm"/>
          </a:ln>
        </p:spPr>
      </p:sp>
      <p:sp>
        <p:nvSpPr>
          <p:cNvPr name="TextBox 7" id="7"/>
          <p:cNvSpPr txBox="true"/>
          <p:nvPr/>
        </p:nvSpPr>
        <p:spPr>
          <a:xfrm rot="0">
            <a:off x="1911525" y="1128182"/>
            <a:ext cx="5458326" cy="1617709"/>
          </a:xfrm>
          <a:prstGeom prst="rect">
            <a:avLst/>
          </a:prstGeom>
        </p:spPr>
        <p:txBody>
          <a:bodyPr anchor="t" rtlCol="false" tIns="0" lIns="0" bIns="0" rIns="0">
            <a:spAutoFit/>
          </a:bodyPr>
          <a:lstStyle/>
          <a:p>
            <a:pPr algn="ctr">
              <a:lnSpc>
                <a:spcPts val="10821"/>
              </a:lnSpc>
            </a:pPr>
            <a:r>
              <a:rPr lang="en-US" sz="12882">
                <a:solidFill>
                  <a:srgbClr val="FFFFFF"/>
                </a:solidFill>
                <a:latin typeface="Costa Rica"/>
                <a:ea typeface="Costa Rica"/>
                <a:cs typeface="Costa Rica"/>
                <a:sym typeface="Costa Rica"/>
              </a:rPr>
              <a:t>MODELS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651890" y="1028700"/>
            <a:ext cx="1166437" cy="1028585"/>
          </a:xfrm>
          <a:custGeom>
            <a:avLst/>
            <a:gdLst/>
            <a:ahLst/>
            <a:cxnLst/>
            <a:rect r="r" b="b" t="t" l="l"/>
            <a:pathLst>
              <a:path h="1028585" w="1166437">
                <a:moveTo>
                  <a:pt x="0" y="0"/>
                </a:moveTo>
                <a:lnTo>
                  <a:pt x="1166437" y="0"/>
                </a:lnTo>
                <a:lnTo>
                  <a:pt x="1166437" y="1028585"/>
                </a:lnTo>
                <a:lnTo>
                  <a:pt x="0" y="10285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5454458" y="9239940"/>
            <a:ext cx="11827380" cy="0"/>
          </a:xfrm>
          <a:prstGeom prst="line">
            <a:avLst/>
          </a:prstGeom>
          <a:ln cap="flat" w="19050">
            <a:solidFill>
              <a:srgbClr val="074F88"/>
            </a:solidFill>
            <a:prstDash val="solid"/>
            <a:headEnd type="none" len="sm" w="sm"/>
            <a:tailEnd type="none" len="sm" w="sm"/>
          </a:ln>
        </p:spPr>
      </p:sp>
      <p:sp>
        <p:nvSpPr>
          <p:cNvPr name="Freeform 6" id="6"/>
          <p:cNvSpPr/>
          <p:nvPr/>
        </p:nvSpPr>
        <p:spPr>
          <a:xfrm flipH="false" flipV="false" rot="0">
            <a:off x="11138587" y="3475672"/>
            <a:ext cx="6576929" cy="4324201"/>
          </a:xfrm>
          <a:custGeom>
            <a:avLst/>
            <a:gdLst/>
            <a:ahLst/>
            <a:cxnLst/>
            <a:rect r="r" b="b" t="t" l="l"/>
            <a:pathLst>
              <a:path h="4324201" w="6576929">
                <a:moveTo>
                  <a:pt x="0" y="0"/>
                </a:moveTo>
                <a:lnTo>
                  <a:pt x="6576929" y="0"/>
                </a:lnTo>
                <a:lnTo>
                  <a:pt x="6576929" y="4324201"/>
                </a:lnTo>
                <a:lnTo>
                  <a:pt x="0" y="4324201"/>
                </a:lnTo>
                <a:lnTo>
                  <a:pt x="0" y="0"/>
                </a:lnTo>
                <a:close/>
              </a:path>
            </a:pathLst>
          </a:custGeom>
          <a:blipFill>
            <a:blip r:embed="rId6"/>
            <a:stretch>
              <a:fillRect l="0" t="0" r="0" b="0"/>
            </a:stretch>
          </a:blipFill>
        </p:spPr>
      </p:sp>
      <p:sp>
        <p:nvSpPr>
          <p:cNvPr name="TextBox 7" id="7"/>
          <p:cNvSpPr txBox="true"/>
          <p:nvPr/>
        </p:nvSpPr>
        <p:spPr>
          <a:xfrm rot="0">
            <a:off x="3161523" y="1219200"/>
            <a:ext cx="3456624" cy="929276"/>
          </a:xfrm>
          <a:prstGeom prst="rect">
            <a:avLst/>
          </a:prstGeom>
        </p:spPr>
        <p:txBody>
          <a:bodyPr anchor="t" rtlCol="false" tIns="0" lIns="0" bIns="0" rIns="0">
            <a:spAutoFit/>
          </a:bodyPr>
          <a:lstStyle/>
          <a:p>
            <a:pPr algn="ctr">
              <a:lnSpc>
                <a:spcPts val="6180"/>
              </a:lnSpc>
            </a:pPr>
            <a:r>
              <a:rPr lang="en-US" sz="7357">
                <a:solidFill>
                  <a:srgbClr val="FFFFFF"/>
                </a:solidFill>
                <a:latin typeface="Costa Rica"/>
                <a:ea typeface="Costa Rica"/>
                <a:cs typeface="Costa Rica"/>
                <a:sym typeface="Costa Rica"/>
              </a:rPr>
              <a:t> RESULTS</a:t>
            </a:r>
          </a:p>
        </p:txBody>
      </p:sp>
      <p:sp>
        <p:nvSpPr>
          <p:cNvPr name="TextBox 8" id="8"/>
          <p:cNvSpPr txBox="true"/>
          <p:nvPr/>
        </p:nvSpPr>
        <p:spPr>
          <a:xfrm rot="0">
            <a:off x="1620742" y="2618431"/>
            <a:ext cx="8758592" cy="3770501"/>
          </a:xfrm>
          <a:prstGeom prst="rect">
            <a:avLst/>
          </a:prstGeom>
        </p:spPr>
        <p:txBody>
          <a:bodyPr anchor="t" rtlCol="false" tIns="0" lIns="0" bIns="0" rIns="0">
            <a:spAutoFit/>
          </a:bodyPr>
          <a:lstStyle/>
          <a:p>
            <a:pPr algn="l">
              <a:lnSpc>
                <a:spcPts val="3767"/>
              </a:lnSpc>
            </a:pPr>
            <a:r>
              <a:rPr lang="en-US" sz="3767">
                <a:solidFill>
                  <a:srgbClr val="FFFFFF"/>
                </a:solidFill>
                <a:latin typeface="Garet"/>
                <a:ea typeface="Garet"/>
                <a:cs typeface="Garet"/>
                <a:sym typeface="Garet"/>
              </a:rPr>
              <a:t>It's clear from the results that accuracy of both SVM and CNN is approximately 81%. KNN performed very poorly due to being very sensitive to curse of dimensionality! It shows that choosing right model to the problem is very important.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626492" y="1168394"/>
            <a:ext cx="1893117" cy="1194384"/>
          </a:xfrm>
          <a:custGeom>
            <a:avLst/>
            <a:gdLst/>
            <a:ahLst/>
            <a:cxnLst/>
            <a:rect r="r" b="b" t="t" l="l"/>
            <a:pathLst>
              <a:path h="1194384" w="1893117">
                <a:moveTo>
                  <a:pt x="0" y="0"/>
                </a:moveTo>
                <a:lnTo>
                  <a:pt x="1893117" y="0"/>
                </a:lnTo>
                <a:lnTo>
                  <a:pt x="1893117" y="1194385"/>
                </a:lnTo>
                <a:lnTo>
                  <a:pt x="0" y="1194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5454458" y="9239940"/>
            <a:ext cx="11827380" cy="0"/>
          </a:xfrm>
          <a:prstGeom prst="line">
            <a:avLst/>
          </a:prstGeom>
          <a:ln cap="flat" w="19050">
            <a:solidFill>
              <a:srgbClr val="074F88"/>
            </a:solidFill>
            <a:prstDash val="solid"/>
            <a:headEnd type="none" len="sm" w="sm"/>
            <a:tailEnd type="none" len="sm" w="sm"/>
          </a:ln>
        </p:spPr>
      </p:sp>
      <p:sp>
        <p:nvSpPr>
          <p:cNvPr name="Freeform 6" id="6"/>
          <p:cNvSpPr/>
          <p:nvPr/>
        </p:nvSpPr>
        <p:spPr>
          <a:xfrm flipH="false" flipV="false" rot="0">
            <a:off x="9318846" y="3685321"/>
            <a:ext cx="8232158" cy="4164064"/>
          </a:xfrm>
          <a:custGeom>
            <a:avLst/>
            <a:gdLst/>
            <a:ahLst/>
            <a:cxnLst/>
            <a:rect r="r" b="b" t="t" l="l"/>
            <a:pathLst>
              <a:path h="4164064" w="8232158">
                <a:moveTo>
                  <a:pt x="0" y="0"/>
                </a:moveTo>
                <a:lnTo>
                  <a:pt x="8232158" y="0"/>
                </a:lnTo>
                <a:lnTo>
                  <a:pt x="8232158" y="4164064"/>
                </a:lnTo>
                <a:lnTo>
                  <a:pt x="0" y="4164064"/>
                </a:lnTo>
                <a:lnTo>
                  <a:pt x="0" y="0"/>
                </a:lnTo>
                <a:close/>
              </a:path>
            </a:pathLst>
          </a:custGeom>
          <a:blipFill>
            <a:blip r:embed="rId6"/>
            <a:stretch>
              <a:fillRect l="-358" t="0" r="-358" b="0"/>
            </a:stretch>
          </a:blipFill>
        </p:spPr>
      </p:sp>
      <p:sp>
        <p:nvSpPr>
          <p:cNvPr name="TextBox 7" id="7"/>
          <p:cNvSpPr txBox="true"/>
          <p:nvPr/>
        </p:nvSpPr>
        <p:spPr>
          <a:xfrm rot="0">
            <a:off x="1911525" y="1128182"/>
            <a:ext cx="8714967" cy="1617709"/>
          </a:xfrm>
          <a:prstGeom prst="rect">
            <a:avLst/>
          </a:prstGeom>
        </p:spPr>
        <p:txBody>
          <a:bodyPr anchor="t" rtlCol="false" tIns="0" lIns="0" bIns="0" rIns="0">
            <a:spAutoFit/>
          </a:bodyPr>
          <a:lstStyle/>
          <a:p>
            <a:pPr algn="ctr">
              <a:lnSpc>
                <a:spcPts val="10821"/>
              </a:lnSpc>
            </a:pPr>
            <a:r>
              <a:rPr lang="en-US" sz="12882">
                <a:solidFill>
                  <a:srgbClr val="FFFFFF"/>
                </a:solidFill>
                <a:latin typeface="Costa Rica"/>
                <a:ea typeface="Costa Rica"/>
                <a:cs typeface="Costa Rica"/>
                <a:sym typeface="Costa Rica"/>
              </a:rPr>
              <a:t>BEST MODEL</a:t>
            </a:r>
          </a:p>
        </p:txBody>
      </p:sp>
      <p:sp>
        <p:nvSpPr>
          <p:cNvPr name="TextBox 8" id="8"/>
          <p:cNvSpPr txBox="true"/>
          <p:nvPr/>
        </p:nvSpPr>
        <p:spPr>
          <a:xfrm rot="0">
            <a:off x="1410710" y="3144057"/>
            <a:ext cx="7733290" cy="5417335"/>
          </a:xfrm>
          <a:prstGeom prst="rect">
            <a:avLst/>
          </a:prstGeom>
        </p:spPr>
        <p:txBody>
          <a:bodyPr anchor="t" rtlCol="false" tIns="0" lIns="0" bIns="0" rIns="0">
            <a:spAutoFit/>
          </a:bodyPr>
          <a:lstStyle/>
          <a:p>
            <a:pPr algn="l">
              <a:lnSpc>
                <a:spcPts val="4780"/>
              </a:lnSpc>
            </a:pPr>
            <a:r>
              <a:rPr lang="en-US" sz="4780" b="true">
                <a:solidFill>
                  <a:srgbClr val="FFFFFF"/>
                </a:solidFill>
                <a:latin typeface="Garet Bold"/>
                <a:ea typeface="Garet Bold"/>
                <a:cs typeface="Garet Bold"/>
                <a:sym typeface="Garet Bold"/>
              </a:rPr>
              <a:t>The SVM with PCA were selected to be the best model. It gave good accuracy with less computing power than CNN. That makes it more realistic to use for university system in the real life.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290350" y="859989"/>
            <a:ext cx="8539416" cy="1617709"/>
          </a:xfrm>
          <a:prstGeom prst="rect">
            <a:avLst/>
          </a:prstGeom>
        </p:spPr>
        <p:txBody>
          <a:bodyPr anchor="t" rtlCol="false" tIns="0" lIns="0" bIns="0" rIns="0">
            <a:spAutoFit/>
          </a:bodyPr>
          <a:lstStyle/>
          <a:p>
            <a:pPr algn="ctr">
              <a:lnSpc>
                <a:spcPts val="10821"/>
              </a:lnSpc>
            </a:pPr>
            <a:r>
              <a:rPr lang="en-US" sz="12882">
                <a:solidFill>
                  <a:srgbClr val="FFFFFF"/>
                </a:solidFill>
                <a:latin typeface="Costa Rica"/>
                <a:ea typeface="Costa Rica"/>
                <a:cs typeface="Costa Rica"/>
                <a:sym typeface="Costa Rica"/>
              </a:rPr>
              <a:t>LIMITATIONS</a:t>
            </a:r>
          </a:p>
        </p:txBody>
      </p:sp>
      <p:sp>
        <p:nvSpPr>
          <p:cNvPr name="Freeform 5" id="5"/>
          <p:cNvSpPr/>
          <p:nvPr/>
        </p:nvSpPr>
        <p:spPr>
          <a:xfrm flipH="false" flipV="false" rot="0">
            <a:off x="10942176" y="517089"/>
            <a:ext cx="1614580" cy="2171195"/>
          </a:xfrm>
          <a:custGeom>
            <a:avLst/>
            <a:gdLst/>
            <a:ahLst/>
            <a:cxnLst/>
            <a:rect r="r" b="b" t="t" l="l"/>
            <a:pathLst>
              <a:path h="2171195" w="1614580">
                <a:moveTo>
                  <a:pt x="0" y="0"/>
                </a:moveTo>
                <a:lnTo>
                  <a:pt x="1614580" y="0"/>
                </a:lnTo>
                <a:lnTo>
                  <a:pt x="1614580" y="2171196"/>
                </a:lnTo>
                <a:lnTo>
                  <a:pt x="0" y="21711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607903" y="3423325"/>
            <a:ext cx="12140083" cy="4317857"/>
          </a:xfrm>
          <a:prstGeom prst="rect">
            <a:avLst/>
          </a:prstGeom>
        </p:spPr>
        <p:txBody>
          <a:bodyPr anchor="t" rtlCol="false" tIns="0" lIns="0" bIns="0" rIns="0">
            <a:spAutoFit/>
          </a:bodyPr>
          <a:lstStyle/>
          <a:p>
            <a:pPr algn="l">
              <a:lnSpc>
                <a:spcPts val="4312"/>
              </a:lnSpc>
            </a:pPr>
            <a:r>
              <a:rPr lang="en-US" sz="4312" b="true">
                <a:solidFill>
                  <a:srgbClr val="FFFFFF"/>
                </a:solidFill>
                <a:latin typeface="Garet Bold"/>
                <a:ea typeface="Garet Bold"/>
                <a:cs typeface="Garet Bold"/>
                <a:sym typeface="Garet Bold"/>
              </a:rPr>
              <a:t>This system is also limited by the relatively small dataset size which affects generalization to real-world applications; it doesn't include real-time camera based recognition so it's a prototype rather than a complete system. Other variations such as lighting, pose, background... Are not covered.</a:t>
            </a:r>
          </a:p>
        </p:txBody>
      </p:sp>
      <p:sp>
        <p:nvSpPr>
          <p:cNvPr name="AutoShape 7" id="7"/>
          <p:cNvSpPr/>
          <p:nvPr/>
        </p:nvSpPr>
        <p:spPr>
          <a:xfrm>
            <a:off x="5454458" y="9239940"/>
            <a:ext cx="11827380" cy="0"/>
          </a:xfrm>
          <a:prstGeom prst="line">
            <a:avLst/>
          </a:prstGeom>
          <a:ln cap="flat" w="19050">
            <a:solidFill>
              <a:srgbClr val="074F88"/>
            </a:soli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97968" y="1098843"/>
            <a:ext cx="9712980" cy="1617709"/>
          </a:xfrm>
          <a:prstGeom prst="rect">
            <a:avLst/>
          </a:prstGeom>
        </p:spPr>
        <p:txBody>
          <a:bodyPr anchor="t" rtlCol="false" tIns="0" lIns="0" bIns="0" rIns="0">
            <a:spAutoFit/>
          </a:bodyPr>
          <a:lstStyle/>
          <a:p>
            <a:pPr algn="ctr">
              <a:lnSpc>
                <a:spcPts val="10821"/>
              </a:lnSpc>
            </a:pPr>
            <a:r>
              <a:rPr lang="en-US" sz="12882">
                <a:solidFill>
                  <a:srgbClr val="FFFFFF"/>
                </a:solidFill>
                <a:latin typeface="Costa Rica"/>
                <a:ea typeface="Costa Rica"/>
                <a:cs typeface="Costa Rica"/>
                <a:sym typeface="Costa Rica"/>
              </a:rPr>
              <a:t> FUTURE WORK</a:t>
            </a:r>
          </a:p>
        </p:txBody>
      </p:sp>
      <p:sp>
        <p:nvSpPr>
          <p:cNvPr name="Freeform 5" id="5"/>
          <p:cNvSpPr/>
          <p:nvPr/>
        </p:nvSpPr>
        <p:spPr>
          <a:xfrm flipH="false" flipV="false" rot="0">
            <a:off x="14179652" y="3988713"/>
            <a:ext cx="2171213" cy="2701736"/>
          </a:xfrm>
          <a:custGeom>
            <a:avLst/>
            <a:gdLst/>
            <a:ahLst/>
            <a:cxnLst/>
            <a:rect r="r" b="b" t="t" l="l"/>
            <a:pathLst>
              <a:path h="2701736" w="2171213">
                <a:moveTo>
                  <a:pt x="0" y="0"/>
                </a:moveTo>
                <a:lnTo>
                  <a:pt x="2171213" y="0"/>
                </a:lnTo>
                <a:lnTo>
                  <a:pt x="2171213" y="2701736"/>
                </a:lnTo>
                <a:lnTo>
                  <a:pt x="0" y="27017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521191" y="3429623"/>
            <a:ext cx="11053230" cy="4441552"/>
          </a:xfrm>
          <a:prstGeom prst="rect">
            <a:avLst/>
          </a:prstGeom>
        </p:spPr>
        <p:txBody>
          <a:bodyPr anchor="t" rtlCol="false" tIns="0" lIns="0" bIns="0" rIns="0">
            <a:spAutoFit/>
          </a:bodyPr>
          <a:lstStyle/>
          <a:p>
            <a:pPr algn="l">
              <a:lnSpc>
                <a:spcPts val="3952"/>
              </a:lnSpc>
            </a:pPr>
            <a:r>
              <a:rPr lang="en-US" sz="3952" b="true">
                <a:solidFill>
                  <a:srgbClr val="FFFFFF"/>
                </a:solidFill>
                <a:latin typeface="Garet Bold"/>
                <a:ea typeface="Garet Bold"/>
                <a:cs typeface="Garet Bold"/>
                <a:sym typeface="Garet Bold"/>
              </a:rPr>
              <a:t>Future work would involve including real-time face recognition through camera input. It is also possible to interface it with university systems so an automatic identity verification can take place. Having a larger database and incorporating face detection and tracking will also enhance overall performance.</a:t>
            </a:r>
          </a:p>
        </p:txBody>
      </p:sp>
      <p:sp>
        <p:nvSpPr>
          <p:cNvPr name="AutoShape 7" id="7"/>
          <p:cNvSpPr/>
          <p:nvPr/>
        </p:nvSpPr>
        <p:spPr>
          <a:xfrm>
            <a:off x="5454458" y="9239940"/>
            <a:ext cx="11827380" cy="0"/>
          </a:xfrm>
          <a:prstGeom prst="line">
            <a:avLst/>
          </a:prstGeom>
          <a:ln cap="flat" w="19050">
            <a:solidFill>
              <a:srgbClr val="074F88"/>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572767" y="6298287"/>
            <a:ext cx="5112781" cy="4982638"/>
          </a:xfrm>
          <a:custGeom>
            <a:avLst/>
            <a:gdLst/>
            <a:ahLst/>
            <a:cxnLst/>
            <a:rect r="r" b="b" t="t" l="l"/>
            <a:pathLst>
              <a:path h="4982638" w="5112781">
                <a:moveTo>
                  <a:pt x="0" y="0"/>
                </a:moveTo>
                <a:lnTo>
                  <a:pt x="5112781" y="0"/>
                </a:lnTo>
                <a:lnTo>
                  <a:pt x="5112781" y="4982638"/>
                </a:lnTo>
                <a:lnTo>
                  <a:pt x="0" y="4982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747986" y="-993925"/>
            <a:ext cx="5112781" cy="4982638"/>
          </a:xfrm>
          <a:custGeom>
            <a:avLst/>
            <a:gdLst/>
            <a:ahLst/>
            <a:cxnLst/>
            <a:rect r="r" b="b" t="t" l="l"/>
            <a:pathLst>
              <a:path h="4982638" w="5112781">
                <a:moveTo>
                  <a:pt x="5112781" y="4982638"/>
                </a:moveTo>
                <a:lnTo>
                  <a:pt x="0" y="4982638"/>
                </a:lnTo>
                <a:lnTo>
                  <a:pt x="0" y="0"/>
                </a:lnTo>
                <a:lnTo>
                  <a:pt x="5112781" y="0"/>
                </a:lnTo>
                <a:lnTo>
                  <a:pt x="5112781" y="498263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44086" y="859989"/>
            <a:ext cx="8480738" cy="1617709"/>
          </a:xfrm>
          <a:prstGeom prst="rect">
            <a:avLst/>
          </a:prstGeom>
        </p:spPr>
        <p:txBody>
          <a:bodyPr anchor="t" rtlCol="false" tIns="0" lIns="0" bIns="0" rIns="0">
            <a:spAutoFit/>
          </a:bodyPr>
          <a:lstStyle/>
          <a:p>
            <a:pPr algn="ctr">
              <a:lnSpc>
                <a:spcPts val="10821"/>
              </a:lnSpc>
            </a:pPr>
            <a:r>
              <a:rPr lang="en-US" sz="12882">
                <a:solidFill>
                  <a:srgbClr val="FFFFFF"/>
                </a:solidFill>
                <a:latin typeface="Costa Rica"/>
                <a:ea typeface="Costa Rica"/>
                <a:cs typeface="Costa Rica"/>
                <a:sym typeface="Costa Rica"/>
              </a:rPr>
              <a:t> CONCLUSION</a:t>
            </a:r>
          </a:p>
        </p:txBody>
      </p:sp>
      <p:sp>
        <p:nvSpPr>
          <p:cNvPr name="TextBox 5" id="5"/>
          <p:cNvSpPr txBox="true"/>
          <p:nvPr/>
        </p:nvSpPr>
        <p:spPr>
          <a:xfrm rot="0">
            <a:off x="1639892" y="2955266"/>
            <a:ext cx="15619408" cy="4656760"/>
          </a:xfrm>
          <a:prstGeom prst="rect">
            <a:avLst/>
          </a:prstGeom>
        </p:spPr>
        <p:txBody>
          <a:bodyPr anchor="t" rtlCol="false" tIns="0" lIns="0" bIns="0" rIns="0">
            <a:spAutoFit/>
          </a:bodyPr>
          <a:lstStyle/>
          <a:p>
            <a:pPr algn="l">
              <a:lnSpc>
                <a:spcPts val="4087"/>
              </a:lnSpc>
            </a:pPr>
            <a:r>
              <a:rPr lang="en-US" sz="4087" b="true">
                <a:solidFill>
                  <a:srgbClr val="FFFFFF"/>
                </a:solidFill>
                <a:latin typeface="Garet Bold"/>
                <a:ea typeface="Garet Bold"/>
                <a:cs typeface="Garet Bold"/>
                <a:sym typeface="Garet Bold"/>
              </a:rPr>
              <a:t>This project demonstrates that both classical and deep learning approaches can effectively solve identity recognition problems. The results confirm that SVM with PCA provides a strong balance between accuracy and efficiency. The system also provides a solid foundation for future smart campus applications.</a:t>
            </a:r>
          </a:p>
          <a:p>
            <a:pPr algn="l">
              <a:lnSpc>
                <a:spcPts val="4087"/>
              </a:lnSpc>
            </a:pPr>
          </a:p>
          <a:p>
            <a:pPr algn="l">
              <a:lnSpc>
                <a:spcPts val="4087"/>
              </a:lnSpc>
            </a:pPr>
            <a:r>
              <a:rPr lang="en-US" sz="4087" b="true">
                <a:solidFill>
                  <a:srgbClr val="FFFFFF"/>
                </a:solidFill>
                <a:latin typeface="Garet Bold"/>
                <a:ea typeface="Garet Bold"/>
                <a:cs typeface="Garet Bold"/>
                <a:sym typeface="Garet Bold"/>
              </a:rPr>
              <a:t>I HOPE TO SEE IT ONE DAY IN OUR UNI !.</a:t>
            </a:r>
          </a:p>
          <a:p>
            <a:pPr algn="l">
              <a:lnSpc>
                <a:spcPts val="4087"/>
              </a:lnSpc>
            </a:pPr>
          </a:p>
        </p:txBody>
      </p:sp>
      <p:sp>
        <p:nvSpPr>
          <p:cNvPr name="Freeform 6" id="6"/>
          <p:cNvSpPr/>
          <p:nvPr/>
        </p:nvSpPr>
        <p:spPr>
          <a:xfrm flipH="false" flipV="false" rot="0">
            <a:off x="9402975" y="699752"/>
            <a:ext cx="895438" cy="1777946"/>
          </a:xfrm>
          <a:custGeom>
            <a:avLst/>
            <a:gdLst/>
            <a:ahLst/>
            <a:cxnLst/>
            <a:rect r="r" b="b" t="t" l="l"/>
            <a:pathLst>
              <a:path h="1777946" w="895438">
                <a:moveTo>
                  <a:pt x="0" y="0"/>
                </a:moveTo>
                <a:lnTo>
                  <a:pt x="895439" y="0"/>
                </a:lnTo>
                <a:lnTo>
                  <a:pt x="895439" y="1777947"/>
                </a:lnTo>
                <a:lnTo>
                  <a:pt x="0" y="17779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a:off x="5454458" y="9239940"/>
            <a:ext cx="11827380" cy="0"/>
          </a:xfrm>
          <a:prstGeom prst="line">
            <a:avLst/>
          </a:prstGeom>
          <a:ln cap="flat" w="19050">
            <a:solidFill>
              <a:srgbClr val="074F88"/>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4073B0"/>
        </a:solidFill>
      </p:bgPr>
    </p:bg>
    <p:spTree>
      <p:nvGrpSpPr>
        <p:cNvPr id="1" name=""/>
        <p:cNvGrpSpPr/>
        <p:nvPr/>
      </p:nvGrpSpPr>
      <p:grpSpPr>
        <a:xfrm>
          <a:off x="0" y="0"/>
          <a:ext cx="0" cy="0"/>
          <a:chOff x="0" y="0"/>
          <a:chExt cx="0" cy="0"/>
        </a:xfrm>
      </p:grpSpPr>
      <p:sp>
        <p:nvSpPr>
          <p:cNvPr name="Freeform 2" id="2"/>
          <p:cNvSpPr/>
          <p:nvPr/>
        </p:nvSpPr>
        <p:spPr>
          <a:xfrm flipH="false" flipV="false" rot="0">
            <a:off x="-1150442" y="4962190"/>
            <a:ext cx="6521552" cy="6355549"/>
          </a:xfrm>
          <a:custGeom>
            <a:avLst/>
            <a:gdLst/>
            <a:ahLst/>
            <a:cxnLst/>
            <a:rect r="r" b="b" t="t" l="l"/>
            <a:pathLst>
              <a:path h="6355549" w="6521552">
                <a:moveTo>
                  <a:pt x="0" y="0"/>
                </a:moveTo>
                <a:lnTo>
                  <a:pt x="6521551" y="0"/>
                </a:lnTo>
                <a:lnTo>
                  <a:pt x="6521551" y="6355549"/>
                </a:lnTo>
                <a:lnTo>
                  <a:pt x="0" y="6355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916891" y="-1030739"/>
            <a:ext cx="6521552" cy="6355549"/>
          </a:xfrm>
          <a:custGeom>
            <a:avLst/>
            <a:gdLst/>
            <a:ahLst/>
            <a:cxnLst/>
            <a:rect r="r" b="b" t="t" l="l"/>
            <a:pathLst>
              <a:path h="6355549" w="6521552">
                <a:moveTo>
                  <a:pt x="6521551" y="6355549"/>
                </a:moveTo>
                <a:lnTo>
                  <a:pt x="0" y="6355549"/>
                </a:lnTo>
                <a:lnTo>
                  <a:pt x="0" y="0"/>
                </a:lnTo>
                <a:lnTo>
                  <a:pt x="6521551" y="0"/>
                </a:lnTo>
                <a:lnTo>
                  <a:pt x="6521551" y="635554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026344" y="3229070"/>
            <a:ext cx="12235312" cy="4333684"/>
          </a:xfrm>
          <a:prstGeom prst="rect">
            <a:avLst/>
          </a:prstGeom>
        </p:spPr>
        <p:txBody>
          <a:bodyPr anchor="t" rtlCol="false" tIns="0" lIns="0" bIns="0" rIns="0">
            <a:spAutoFit/>
          </a:bodyPr>
          <a:lstStyle/>
          <a:p>
            <a:pPr algn="ctr">
              <a:lnSpc>
                <a:spcPts val="15746"/>
              </a:lnSpc>
            </a:pPr>
            <a:r>
              <a:rPr lang="en-US" sz="18745">
                <a:solidFill>
                  <a:srgbClr val="FFFFFF"/>
                </a:solidFill>
                <a:latin typeface="Costa Rica"/>
                <a:ea typeface="Costa Rica"/>
                <a:cs typeface="Costa Rica"/>
                <a:sym typeface="Costa Rica"/>
              </a:rPr>
              <a:t>THANK</a:t>
            </a:r>
          </a:p>
          <a:p>
            <a:pPr algn="ctr">
              <a:lnSpc>
                <a:spcPts val="15746"/>
              </a:lnSpc>
            </a:pPr>
            <a:r>
              <a:rPr lang="en-US" sz="18745">
                <a:solidFill>
                  <a:srgbClr val="FFFFFF"/>
                </a:solidFill>
                <a:latin typeface="Costa Rica"/>
                <a:ea typeface="Costa Rica"/>
                <a:cs typeface="Costa Rica"/>
                <a:sym typeface="Costa Rica"/>
              </a:rPr>
              <a:t>YOU</a:t>
            </a:r>
          </a:p>
        </p:txBody>
      </p:sp>
      <p:sp>
        <p:nvSpPr>
          <p:cNvPr name="Freeform 5" id="5"/>
          <p:cNvSpPr/>
          <p:nvPr/>
        </p:nvSpPr>
        <p:spPr>
          <a:xfrm flipH="false" flipV="false" rot="0">
            <a:off x="631841" y="567265"/>
            <a:ext cx="1574026" cy="1579771"/>
          </a:xfrm>
          <a:custGeom>
            <a:avLst/>
            <a:gdLst/>
            <a:ahLst/>
            <a:cxnLst/>
            <a:rect r="r" b="b" t="t" l="l"/>
            <a:pathLst>
              <a:path h="1579771" w="1574026">
                <a:moveTo>
                  <a:pt x="0" y="0"/>
                </a:moveTo>
                <a:lnTo>
                  <a:pt x="1574026" y="0"/>
                </a:lnTo>
                <a:lnTo>
                  <a:pt x="1574026" y="1579771"/>
                </a:lnTo>
                <a:lnTo>
                  <a:pt x="0" y="1579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082133" y="8139964"/>
            <a:ext cx="1574026" cy="1579771"/>
          </a:xfrm>
          <a:custGeom>
            <a:avLst/>
            <a:gdLst/>
            <a:ahLst/>
            <a:cxnLst/>
            <a:rect r="r" b="b" t="t" l="l"/>
            <a:pathLst>
              <a:path h="1579771" w="1574026">
                <a:moveTo>
                  <a:pt x="0" y="0"/>
                </a:moveTo>
                <a:lnTo>
                  <a:pt x="1574026" y="0"/>
                </a:lnTo>
                <a:lnTo>
                  <a:pt x="1574026" y="1579771"/>
                </a:lnTo>
                <a:lnTo>
                  <a:pt x="0" y="15797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DAHIiQSV8QA</dc:identifier>
  <dcterms:modified xsi:type="dcterms:W3CDTF">2011-08-01T06:04:30Z</dcterms:modified>
  <cp:revision>1</cp:revision>
  <dc:title>Smart University Identity Recognition System Presentation MARYAM FAGBO.</dc:title>
</cp:coreProperties>
</file>